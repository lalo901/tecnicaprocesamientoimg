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Nunito"/>
      <p:regular r:id="rId14"/>
      <p:bold r:id="rId15"/>
      <p:italic r:id="rId16"/>
      <p:boldItalic r:id="rId17"/>
    </p:embeddedFont>
    <p:embeddedFont>
      <p:font typeface="Maven Pro"/>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19" Type="http://schemas.openxmlformats.org/officeDocument/2006/relationships/font" Target="fonts/MavenPro-bold.fntdata"/><Relationship Id="rId6" Type="http://schemas.openxmlformats.org/officeDocument/2006/relationships/slide" Target="slides/slide1.xml"/><Relationship Id="rId18" Type="http://schemas.openxmlformats.org/officeDocument/2006/relationships/font" Target="fonts/MavenPr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71798a85a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71798a85a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71798a85a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71798a85a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71798a85a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71798a85a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71798a85a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971798a85a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71798a85a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71798a85a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71798a85a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971798a85a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71798a85a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971798a85a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youtube.com/watch?v=ZfzARQ4pfZ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12.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9.jpg"/><Relationship Id="rId5"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2.jpg"/><Relationship Id="rId5" Type="http://schemas.openxmlformats.org/officeDocument/2006/relationships/image" Target="../media/image10.jpg"/><Relationship Id="rId6" Type="http://schemas.openxmlformats.org/officeDocument/2006/relationships/image" Target="../media/image5.jpg"/><Relationship Id="rId7"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74825" y="572200"/>
            <a:ext cx="8520600" cy="147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s"/>
              <a:t>CÁMARA</a:t>
            </a:r>
            <a:r>
              <a:rPr lang="es"/>
              <a:t> OSCURA ESTENOPEICA</a:t>
            </a:r>
            <a:endParaRPr/>
          </a:p>
        </p:txBody>
      </p:sp>
      <p:sp>
        <p:nvSpPr>
          <p:cNvPr id="278" name="Google Shape;278;p13"/>
          <p:cNvSpPr txBox="1"/>
          <p:nvPr>
            <p:ph idx="1" type="subTitle"/>
          </p:nvPr>
        </p:nvSpPr>
        <p:spPr>
          <a:xfrm>
            <a:off x="374825" y="200317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Armado de </a:t>
            </a:r>
            <a:r>
              <a:rPr lang="es"/>
              <a:t>cámara</a:t>
            </a:r>
            <a:r>
              <a:rPr lang="es"/>
              <a:t> oscura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374825" y="98850"/>
            <a:ext cx="8520600" cy="147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s"/>
              <a:t>Elementos Usados</a:t>
            </a:r>
            <a:endParaRPr/>
          </a:p>
        </p:txBody>
      </p:sp>
      <p:sp>
        <p:nvSpPr>
          <p:cNvPr id="284" name="Google Shape;284;p14"/>
          <p:cNvSpPr txBox="1"/>
          <p:nvPr>
            <p:ph idx="1" type="subTitle"/>
          </p:nvPr>
        </p:nvSpPr>
        <p:spPr>
          <a:xfrm>
            <a:off x="374825" y="2013693"/>
            <a:ext cx="8520600" cy="2092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Una Cartulina Color Negra de 50 cm x 70 cm</a:t>
            </a:r>
            <a:endParaRPr/>
          </a:p>
          <a:p>
            <a:pPr indent="0" lvl="0" marL="0" rtl="0" algn="l">
              <a:spcBef>
                <a:spcPts val="0"/>
              </a:spcBef>
              <a:spcAft>
                <a:spcPts val="0"/>
              </a:spcAft>
              <a:buNone/>
            </a:pPr>
            <a:r>
              <a:rPr lang="es"/>
              <a:t>una hoja calco color blanco 6cm x 6cm</a:t>
            </a:r>
            <a:endParaRPr/>
          </a:p>
          <a:p>
            <a:pPr indent="0" lvl="0" marL="0" rtl="0" algn="l">
              <a:spcBef>
                <a:spcPts val="0"/>
              </a:spcBef>
              <a:spcAft>
                <a:spcPts val="0"/>
              </a:spcAft>
              <a:buNone/>
            </a:pPr>
            <a:r>
              <a:rPr lang="es"/>
              <a:t>un trozo de papel aluminio de 4cm x 4cm</a:t>
            </a:r>
            <a:endParaRPr/>
          </a:p>
          <a:p>
            <a:pPr indent="0" lvl="0" marL="0" rtl="0" algn="l">
              <a:spcBef>
                <a:spcPts val="0"/>
              </a:spcBef>
              <a:spcAft>
                <a:spcPts val="0"/>
              </a:spcAft>
              <a:buNone/>
            </a:pPr>
            <a:r>
              <a:rPr lang="es"/>
              <a:t>Una regla</a:t>
            </a:r>
            <a:endParaRPr/>
          </a:p>
          <a:p>
            <a:pPr indent="0" lvl="0" marL="0" rtl="0" algn="l">
              <a:spcBef>
                <a:spcPts val="0"/>
              </a:spcBef>
              <a:spcAft>
                <a:spcPts val="0"/>
              </a:spcAft>
              <a:buNone/>
            </a:pPr>
            <a:r>
              <a:rPr lang="es"/>
              <a:t>Una plasticola</a:t>
            </a:r>
            <a:endParaRPr/>
          </a:p>
          <a:p>
            <a:pPr indent="0" lvl="0" marL="0" rtl="0" algn="l">
              <a:spcBef>
                <a:spcPts val="0"/>
              </a:spcBef>
              <a:spcAft>
                <a:spcPts val="0"/>
              </a:spcAft>
              <a:buNone/>
            </a:pPr>
            <a:r>
              <a:rPr lang="es"/>
              <a:t>Un alfiler</a:t>
            </a:r>
            <a:endParaRPr/>
          </a:p>
          <a:p>
            <a:pPr indent="0" lvl="0" marL="0" rtl="0" algn="l">
              <a:spcBef>
                <a:spcPts val="0"/>
              </a:spcBef>
              <a:spcAft>
                <a:spcPts val="0"/>
              </a:spcAft>
              <a:buNone/>
            </a:pPr>
            <a:r>
              <a:rPr lang="es"/>
              <a:t>Una Tijera</a:t>
            </a:r>
            <a:endParaRPr/>
          </a:p>
          <a:p>
            <a:pPr indent="0" lvl="0" marL="0" rtl="0" algn="l">
              <a:spcBef>
                <a:spcPts val="0"/>
              </a:spcBef>
              <a:spcAft>
                <a:spcPts val="0"/>
              </a:spcAft>
              <a:buNone/>
            </a:pPr>
            <a:r>
              <a:rPr lang="es"/>
              <a:t>Una moneda </a:t>
            </a:r>
            <a:endParaRPr/>
          </a:p>
        </p:txBody>
      </p:sp>
      <p:pic>
        <p:nvPicPr>
          <p:cNvPr id="285" name="Google Shape;285;p14" title="IMG_20260410_163835.jpg"/>
          <p:cNvPicPr preferRelativeResize="0"/>
          <p:nvPr/>
        </p:nvPicPr>
        <p:blipFill>
          <a:blip r:embed="rId3">
            <a:alphaModFix/>
          </a:blip>
          <a:stretch>
            <a:fillRect/>
          </a:stretch>
        </p:blipFill>
        <p:spPr>
          <a:xfrm>
            <a:off x="4293625" y="751000"/>
            <a:ext cx="4712223" cy="23782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ctrTitle"/>
          </p:nvPr>
        </p:nvSpPr>
        <p:spPr>
          <a:xfrm>
            <a:off x="374825" y="98850"/>
            <a:ext cx="8520600" cy="83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Procedimientos</a:t>
            </a:r>
            <a:endParaRPr/>
          </a:p>
        </p:txBody>
      </p:sp>
      <p:sp>
        <p:nvSpPr>
          <p:cNvPr id="291" name="Google Shape;291;p15"/>
          <p:cNvSpPr txBox="1"/>
          <p:nvPr>
            <p:ph idx="1" type="subTitle"/>
          </p:nvPr>
        </p:nvSpPr>
        <p:spPr>
          <a:xfrm>
            <a:off x="427425" y="751025"/>
            <a:ext cx="8520600" cy="42075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t/>
            </a:r>
            <a:endParaRPr sz="3108"/>
          </a:p>
          <a:p>
            <a:pPr indent="-322337" lvl="0" marL="457200" rtl="0" algn="l">
              <a:spcBef>
                <a:spcPts val="0"/>
              </a:spcBef>
              <a:spcAft>
                <a:spcPts val="0"/>
              </a:spcAft>
              <a:buSzPct val="100000"/>
              <a:buAutoNum type="arabicPeriod"/>
            </a:pPr>
            <a:r>
              <a:rPr lang="es" sz="3108"/>
              <a:t>Preparación de la cartulina: Toma la cartulina por su lado más largo y dóblala dejando una diferencia de tres dedos (o cuatro si son pequeños) entre un lado y otro. Marca bien los pliegues con un objeto duro, como una moneda, y rasga la cartulina para obtener dos hojas de diferentes tamaños.</a:t>
            </a:r>
            <a:endParaRPr sz="3108"/>
          </a:p>
          <a:p>
            <a:pPr indent="0" lvl="0" marL="457200" rtl="0" algn="l">
              <a:spcBef>
                <a:spcPts val="0"/>
              </a:spcBef>
              <a:spcAft>
                <a:spcPts val="0"/>
              </a:spcAft>
              <a:buNone/>
            </a:pPr>
            <a:r>
              <a:t/>
            </a:r>
            <a:endParaRPr sz="3108"/>
          </a:p>
          <a:p>
            <a:pPr indent="-322337" lvl="0" marL="457200" rtl="0" algn="l">
              <a:spcBef>
                <a:spcPts val="0"/>
              </a:spcBef>
              <a:spcAft>
                <a:spcPts val="0"/>
              </a:spcAft>
              <a:buSzPct val="100000"/>
              <a:buAutoNum type="arabicPeriod"/>
            </a:pPr>
            <a:r>
              <a:rPr lang="es" sz="3108"/>
              <a:t>Plegado de la hoja grande: Toma la hoja más grande por su lado corto y haz un pliegue de dos dedos. Luego, dobla el lado opuesto hasta encontrarlo con el pliegue anterior y pega la solapa de dos dedos por el lado de afuera para formar una especie de tubo.</a:t>
            </a:r>
            <a:endParaRPr sz="3108"/>
          </a:p>
          <a:p>
            <a:pPr indent="0" lvl="0" marL="457200" rtl="0" algn="l">
              <a:spcBef>
                <a:spcPts val="0"/>
              </a:spcBef>
              <a:spcAft>
                <a:spcPts val="0"/>
              </a:spcAft>
              <a:buNone/>
            </a:pPr>
            <a:r>
              <a:t/>
            </a:r>
            <a:endParaRPr sz="3108"/>
          </a:p>
          <a:p>
            <a:pPr indent="-322337" lvl="0" marL="457200" rtl="0" algn="l">
              <a:spcBef>
                <a:spcPts val="0"/>
              </a:spcBef>
              <a:spcAft>
                <a:spcPts val="0"/>
              </a:spcAft>
              <a:buSzPct val="100000"/>
              <a:buAutoNum type="arabicPeriod"/>
            </a:pPr>
            <a:r>
              <a:rPr lang="es" sz="3108"/>
              <a:t>Plegado de la hoja chica: Repite el proceso con la hoja pequeña, pero esta vez realiza un pliegue de tres dedos de ancho. Une el lado opuesto y pega la solapa de tres dedos.</a:t>
            </a:r>
            <a:endParaRPr sz="3108"/>
          </a:p>
          <a:p>
            <a:pPr indent="0" lvl="0" marL="0" rtl="0" algn="l">
              <a:spcBef>
                <a:spcPts val="0"/>
              </a:spcBef>
              <a:spcAft>
                <a:spcPts val="0"/>
              </a:spcAft>
              <a:buNone/>
            </a:pPr>
            <a:r>
              <a:t/>
            </a:r>
            <a:endParaRPr sz="3108"/>
          </a:p>
          <a:p>
            <a:pPr indent="-322337" lvl="0" marL="457200" rtl="0" algn="l">
              <a:spcBef>
                <a:spcPts val="0"/>
              </a:spcBef>
              <a:spcAft>
                <a:spcPts val="0"/>
              </a:spcAft>
              <a:buSzPct val="100000"/>
              <a:buAutoNum type="arabicPeriod"/>
            </a:pPr>
            <a:r>
              <a:rPr lang="es" sz="3108"/>
              <a:t>Creación de solapas maleables: En la cartulina chica, haz un pliegue de un dedo en su lado más corto y márcalo de ambos lados hasta que sea maleable. En la cartulina grande, realiza el mismo procedimiento pero con una solapa de dos dedos.</a:t>
            </a:r>
            <a:endParaRPr sz="3108"/>
          </a:p>
          <a:p>
            <a:pPr indent="0" lvl="0" marL="457200" rtl="0" algn="l">
              <a:spcBef>
                <a:spcPts val="0"/>
              </a:spcBef>
              <a:spcAft>
                <a:spcPts val="0"/>
              </a:spcAft>
              <a:buNone/>
            </a:pPr>
            <a:r>
              <a:t/>
            </a:r>
            <a:endParaRPr sz="3108"/>
          </a:p>
          <a:p>
            <a:pPr indent="-322337" lvl="0" marL="457200" rtl="0" algn="l">
              <a:spcBef>
                <a:spcPts val="0"/>
              </a:spcBef>
              <a:spcAft>
                <a:spcPts val="0"/>
              </a:spcAft>
              <a:buSzPct val="100000"/>
              <a:buAutoNum type="arabicPeriod"/>
            </a:pPr>
            <a:r>
              <a:rPr lang="es" sz="3108"/>
              <a:t>Pliegue longitudinal: En ambas piezas, une el lado más largo con el opuesto para plegarlas a la mitad y marca bien el doblez por ambos lados.</a:t>
            </a:r>
            <a:endParaRPr sz="3108"/>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ctrTitle"/>
          </p:nvPr>
        </p:nvSpPr>
        <p:spPr>
          <a:xfrm>
            <a:off x="374825" y="98850"/>
            <a:ext cx="85206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Procedimientos</a:t>
            </a:r>
            <a:endParaRPr/>
          </a:p>
        </p:txBody>
      </p:sp>
      <p:sp>
        <p:nvSpPr>
          <p:cNvPr id="297" name="Google Shape;297;p16"/>
          <p:cNvSpPr txBox="1"/>
          <p:nvPr>
            <p:ph idx="1" type="subTitle"/>
          </p:nvPr>
        </p:nvSpPr>
        <p:spPr>
          <a:xfrm>
            <a:off x="427425" y="664475"/>
            <a:ext cx="8520600" cy="42942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lang="es" sz="4131"/>
              <a:t>6. Verificación de encaje: Abre ambas partes y corrobora que el volumen pequeño quepa dentro del volumen más grande.</a:t>
            </a:r>
            <a:endParaRPr sz="4131"/>
          </a:p>
          <a:p>
            <a:pPr indent="0" lvl="0" marL="0" rtl="0" algn="l">
              <a:spcBef>
                <a:spcPts val="0"/>
              </a:spcBef>
              <a:spcAft>
                <a:spcPts val="0"/>
              </a:spcAft>
              <a:buNone/>
            </a:pPr>
            <a:r>
              <a:t/>
            </a:r>
            <a:endParaRPr sz="4131"/>
          </a:p>
          <a:p>
            <a:pPr indent="0" lvl="0" marL="0" rtl="0" algn="l">
              <a:spcBef>
                <a:spcPts val="0"/>
              </a:spcBef>
              <a:spcAft>
                <a:spcPts val="0"/>
              </a:spcAft>
              <a:buNone/>
            </a:pPr>
            <a:r>
              <a:rPr lang="es" sz="4131"/>
              <a:t>7. Corte de esquinas: Rasga las cuatro esquinas de los pliegues pequeños que hiciste previamente (el de un dedo y el de dos dedos) hasta llegar al siguiente pliegue.</a:t>
            </a:r>
            <a:endParaRPr sz="4131"/>
          </a:p>
          <a:p>
            <a:pPr indent="0" lvl="0" marL="0" rtl="0" algn="l">
              <a:spcBef>
                <a:spcPts val="0"/>
              </a:spcBef>
              <a:spcAft>
                <a:spcPts val="0"/>
              </a:spcAft>
              <a:buNone/>
            </a:pPr>
            <a:r>
              <a:t/>
            </a:r>
            <a:endParaRPr sz="4131"/>
          </a:p>
          <a:p>
            <a:pPr indent="0" lvl="0" marL="0" rtl="0" algn="l">
              <a:spcBef>
                <a:spcPts val="0"/>
              </a:spcBef>
              <a:spcAft>
                <a:spcPts val="0"/>
              </a:spcAft>
              <a:buNone/>
            </a:pPr>
            <a:r>
              <a:rPr lang="es" sz="4131"/>
              <a:t>8. Armado de las cajas: En cada pieza, dobla dos solapas hacia adentro y dos hacia afuera. Coloca pegamento en los extremos de las solapas exteriores y pégalas hacia adentro, presionando desde el interior de la caja para asegurar el cierre.</a:t>
            </a:r>
            <a:endParaRPr sz="4131"/>
          </a:p>
          <a:p>
            <a:pPr indent="0" lvl="0" marL="0" rtl="0" algn="l">
              <a:spcBef>
                <a:spcPts val="0"/>
              </a:spcBef>
              <a:spcAft>
                <a:spcPts val="0"/>
              </a:spcAft>
              <a:buNone/>
            </a:pPr>
            <a:r>
              <a:t/>
            </a:r>
            <a:endParaRPr sz="4131"/>
          </a:p>
          <a:p>
            <a:pPr indent="0" lvl="0" marL="0" rtl="0" algn="l">
              <a:spcBef>
                <a:spcPts val="0"/>
              </a:spcBef>
              <a:spcAft>
                <a:spcPts val="0"/>
              </a:spcAft>
              <a:buNone/>
            </a:pPr>
            <a:r>
              <a:rPr lang="es" sz="4131"/>
              <a:t>9. Colocación de las ventanas: La caja pequeña tendrá una ventana grande que debes cubrir con papel de calco usando pegamento. La caja grande tendrá una ventana pequeña que debes cubrir con un cuadrado de papel de aluminio.</a:t>
            </a:r>
            <a:endParaRPr sz="4131"/>
          </a:p>
          <a:p>
            <a:pPr indent="0" lvl="0" marL="0" rtl="0" algn="l">
              <a:spcBef>
                <a:spcPts val="0"/>
              </a:spcBef>
              <a:spcAft>
                <a:spcPts val="0"/>
              </a:spcAft>
              <a:buNone/>
            </a:pPr>
            <a:r>
              <a:t/>
            </a:r>
            <a:endParaRPr sz="4131"/>
          </a:p>
          <a:p>
            <a:pPr indent="0" lvl="0" marL="0" rtl="0" algn="l">
              <a:spcBef>
                <a:spcPts val="0"/>
              </a:spcBef>
              <a:spcAft>
                <a:spcPts val="0"/>
              </a:spcAft>
              <a:buNone/>
            </a:pPr>
            <a:r>
              <a:rPr lang="es" sz="4131"/>
              <a:t>10. Creación del estenopo: Utiliza un alfiler o aguja para hacer un pequeño agujerito en el centro del papel de aluminio. Este orificio es el único lugar por donde entrará la luz.</a:t>
            </a:r>
            <a:endParaRPr sz="4131"/>
          </a:p>
          <a:p>
            <a:pPr indent="0" lvl="0" marL="0" rtl="0" algn="l">
              <a:spcBef>
                <a:spcPts val="0"/>
              </a:spcBef>
              <a:spcAft>
                <a:spcPts val="0"/>
              </a:spcAft>
              <a:buNone/>
            </a:pPr>
            <a:r>
              <a:t/>
            </a:r>
            <a:endParaRPr sz="4131"/>
          </a:p>
          <a:p>
            <a:pPr indent="0" lvl="0" marL="0" rtl="0" algn="l">
              <a:spcBef>
                <a:spcPts val="0"/>
              </a:spcBef>
              <a:spcAft>
                <a:spcPts val="0"/>
              </a:spcAft>
              <a:buNone/>
            </a:pPr>
            <a:r>
              <a:rPr lang="es" sz="4131"/>
              <a:t>11. Ensamblaje final: Introduce la caja pequeña (con el papel de calco) dentro de la caja grande (con el estenopo). Puedes añadir recortes de cartulina en los bordes para evitar que se filtre luz por los costados</a:t>
            </a:r>
            <a:endParaRPr sz="413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2600"/>
          </a:p>
          <a:p>
            <a:pPr indent="0" lvl="0" marL="0" rtl="0" algn="l">
              <a:spcBef>
                <a:spcPts val="0"/>
              </a:spcBef>
              <a:spcAft>
                <a:spcPts val="0"/>
              </a:spcAft>
              <a:buNone/>
            </a:pPr>
            <a:r>
              <a:rPr lang="es" sz="2600" u="sng">
                <a:hlinkClick r:id="rId3"/>
              </a:rPr>
              <a:t>https://www.youtube.com/watch?v=ZfzARQ4pfZU</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ctrTitle"/>
          </p:nvPr>
        </p:nvSpPr>
        <p:spPr>
          <a:xfrm>
            <a:off x="374825" y="98850"/>
            <a:ext cx="85206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Elementos</a:t>
            </a:r>
            <a:endParaRPr/>
          </a:p>
        </p:txBody>
      </p:sp>
      <p:pic>
        <p:nvPicPr>
          <p:cNvPr id="303" name="Google Shape;303;p17" title="IMG_20260410_161338.jpg"/>
          <p:cNvPicPr preferRelativeResize="0"/>
          <p:nvPr/>
        </p:nvPicPr>
        <p:blipFill>
          <a:blip r:embed="rId3">
            <a:alphaModFix/>
          </a:blip>
          <a:stretch>
            <a:fillRect/>
          </a:stretch>
        </p:blipFill>
        <p:spPr>
          <a:xfrm>
            <a:off x="3724950" y="1118150"/>
            <a:ext cx="2987052" cy="3809725"/>
          </a:xfrm>
          <a:prstGeom prst="rect">
            <a:avLst/>
          </a:prstGeom>
          <a:noFill/>
          <a:ln>
            <a:noFill/>
          </a:ln>
        </p:spPr>
      </p:pic>
      <p:pic>
        <p:nvPicPr>
          <p:cNvPr id="304" name="Google Shape;304;p17" title="IMG_20260410_161444.jpg"/>
          <p:cNvPicPr preferRelativeResize="0"/>
          <p:nvPr/>
        </p:nvPicPr>
        <p:blipFill>
          <a:blip r:embed="rId4">
            <a:alphaModFix/>
          </a:blip>
          <a:stretch>
            <a:fillRect/>
          </a:stretch>
        </p:blipFill>
        <p:spPr>
          <a:xfrm>
            <a:off x="6712000" y="1090350"/>
            <a:ext cx="2307548" cy="3893125"/>
          </a:xfrm>
          <a:prstGeom prst="rect">
            <a:avLst/>
          </a:prstGeom>
          <a:noFill/>
          <a:ln>
            <a:noFill/>
          </a:ln>
        </p:spPr>
      </p:pic>
      <p:pic>
        <p:nvPicPr>
          <p:cNvPr id="305" name="Google Shape;305;p17" title="camaraOscura.jpeg"/>
          <p:cNvPicPr preferRelativeResize="0"/>
          <p:nvPr/>
        </p:nvPicPr>
        <p:blipFill>
          <a:blip r:embed="rId5">
            <a:alphaModFix/>
          </a:blip>
          <a:stretch>
            <a:fillRect/>
          </a:stretch>
        </p:blipFill>
        <p:spPr>
          <a:xfrm>
            <a:off x="0" y="1118150"/>
            <a:ext cx="3724942" cy="38097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ctrTitle"/>
          </p:nvPr>
        </p:nvSpPr>
        <p:spPr>
          <a:xfrm>
            <a:off x="374825" y="98850"/>
            <a:ext cx="26757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Elementos</a:t>
            </a:r>
            <a:endParaRPr/>
          </a:p>
        </p:txBody>
      </p:sp>
      <p:pic>
        <p:nvPicPr>
          <p:cNvPr id="311" name="Google Shape;311;p18" title="IMG_20260410_163835.jpg"/>
          <p:cNvPicPr preferRelativeResize="0"/>
          <p:nvPr/>
        </p:nvPicPr>
        <p:blipFill>
          <a:blip r:embed="rId3">
            <a:alphaModFix/>
          </a:blip>
          <a:stretch>
            <a:fillRect/>
          </a:stretch>
        </p:blipFill>
        <p:spPr>
          <a:xfrm>
            <a:off x="82625" y="1097275"/>
            <a:ext cx="3171123" cy="3670301"/>
          </a:xfrm>
          <a:prstGeom prst="rect">
            <a:avLst/>
          </a:prstGeom>
          <a:noFill/>
          <a:ln>
            <a:noFill/>
          </a:ln>
        </p:spPr>
      </p:pic>
      <p:pic>
        <p:nvPicPr>
          <p:cNvPr id="312" name="Google Shape;312;p18" title="IMG_20260410_163938.jpg"/>
          <p:cNvPicPr preferRelativeResize="0"/>
          <p:nvPr/>
        </p:nvPicPr>
        <p:blipFill>
          <a:blip r:embed="rId4">
            <a:alphaModFix/>
          </a:blip>
          <a:stretch>
            <a:fillRect/>
          </a:stretch>
        </p:blipFill>
        <p:spPr>
          <a:xfrm>
            <a:off x="2494925" y="1013900"/>
            <a:ext cx="3218300" cy="3753677"/>
          </a:xfrm>
          <a:prstGeom prst="rect">
            <a:avLst/>
          </a:prstGeom>
          <a:noFill/>
          <a:ln>
            <a:noFill/>
          </a:ln>
        </p:spPr>
      </p:pic>
      <p:pic>
        <p:nvPicPr>
          <p:cNvPr id="313" name="Google Shape;313;p18" title="IMG_20260410_173956.jpg"/>
          <p:cNvPicPr preferRelativeResize="0"/>
          <p:nvPr/>
        </p:nvPicPr>
        <p:blipFill>
          <a:blip r:embed="rId5">
            <a:alphaModFix/>
          </a:blip>
          <a:stretch>
            <a:fillRect/>
          </a:stretch>
        </p:blipFill>
        <p:spPr>
          <a:xfrm>
            <a:off x="5713225" y="1013900"/>
            <a:ext cx="3430774" cy="36470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9"/>
          <p:cNvSpPr txBox="1"/>
          <p:nvPr>
            <p:ph type="ctrTitle"/>
          </p:nvPr>
        </p:nvSpPr>
        <p:spPr>
          <a:xfrm>
            <a:off x="374825" y="98850"/>
            <a:ext cx="85206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Imágenes</a:t>
            </a:r>
            <a:r>
              <a:rPr lang="es"/>
              <a:t> Obtenidas</a:t>
            </a:r>
            <a:endParaRPr/>
          </a:p>
        </p:txBody>
      </p:sp>
      <p:pic>
        <p:nvPicPr>
          <p:cNvPr id="319" name="Google Shape;319;p19" title="IMG_20260410_171502.jpg"/>
          <p:cNvPicPr preferRelativeResize="0"/>
          <p:nvPr/>
        </p:nvPicPr>
        <p:blipFill>
          <a:blip r:embed="rId3">
            <a:alphaModFix/>
          </a:blip>
          <a:stretch>
            <a:fillRect/>
          </a:stretch>
        </p:blipFill>
        <p:spPr>
          <a:xfrm>
            <a:off x="152400" y="1262375"/>
            <a:ext cx="2085350" cy="2870200"/>
          </a:xfrm>
          <a:prstGeom prst="rect">
            <a:avLst/>
          </a:prstGeom>
          <a:noFill/>
          <a:ln>
            <a:noFill/>
          </a:ln>
        </p:spPr>
      </p:pic>
      <p:pic>
        <p:nvPicPr>
          <p:cNvPr id="320" name="Google Shape;320;p19" title="IMG_20260410_165433.jpg"/>
          <p:cNvPicPr preferRelativeResize="0"/>
          <p:nvPr/>
        </p:nvPicPr>
        <p:blipFill rotWithShape="1">
          <a:blip r:embed="rId4">
            <a:alphaModFix/>
          </a:blip>
          <a:srcRect b="36870" l="18809" r="31445" t="31778"/>
          <a:stretch/>
        </p:blipFill>
        <p:spPr>
          <a:xfrm>
            <a:off x="2415550" y="1262375"/>
            <a:ext cx="1511301" cy="1270001"/>
          </a:xfrm>
          <a:prstGeom prst="rect">
            <a:avLst/>
          </a:prstGeom>
          <a:noFill/>
          <a:ln>
            <a:noFill/>
          </a:ln>
        </p:spPr>
      </p:pic>
      <p:pic>
        <p:nvPicPr>
          <p:cNvPr id="321" name="Google Shape;321;p19" title="IMG_20260410_170314.jpg"/>
          <p:cNvPicPr preferRelativeResize="0"/>
          <p:nvPr/>
        </p:nvPicPr>
        <p:blipFill rotWithShape="1">
          <a:blip r:embed="rId5">
            <a:alphaModFix/>
          </a:blip>
          <a:srcRect b="55776" l="17716" r="23968" t="0"/>
          <a:stretch/>
        </p:blipFill>
        <p:spPr>
          <a:xfrm>
            <a:off x="4104650" y="1262375"/>
            <a:ext cx="1771649" cy="1270001"/>
          </a:xfrm>
          <a:prstGeom prst="rect">
            <a:avLst/>
          </a:prstGeom>
          <a:noFill/>
          <a:ln>
            <a:noFill/>
          </a:ln>
        </p:spPr>
      </p:pic>
      <p:pic>
        <p:nvPicPr>
          <p:cNvPr id="322" name="Google Shape;322;p19" title="IMG_20260410_165912.jpg"/>
          <p:cNvPicPr preferRelativeResize="0"/>
          <p:nvPr/>
        </p:nvPicPr>
        <p:blipFill rotWithShape="1">
          <a:blip r:embed="rId6">
            <a:alphaModFix/>
          </a:blip>
          <a:srcRect b="54386" l="13747" r="15022" t="-8208"/>
          <a:stretch/>
        </p:blipFill>
        <p:spPr>
          <a:xfrm>
            <a:off x="6195050" y="1061075"/>
            <a:ext cx="1924051" cy="1471299"/>
          </a:xfrm>
          <a:prstGeom prst="rect">
            <a:avLst/>
          </a:prstGeom>
          <a:noFill/>
          <a:ln>
            <a:noFill/>
          </a:ln>
        </p:spPr>
      </p:pic>
      <p:sp>
        <p:nvSpPr>
          <p:cNvPr id="323" name="Google Shape;323;p19"/>
          <p:cNvSpPr txBox="1"/>
          <p:nvPr>
            <p:ph type="ctrTitle"/>
          </p:nvPr>
        </p:nvSpPr>
        <p:spPr>
          <a:xfrm>
            <a:off x="2415550" y="2661075"/>
            <a:ext cx="67284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SzPct val="48529"/>
              <a:buNone/>
            </a:pPr>
            <a:r>
              <a:rPr lang="es" sz="2040"/>
              <a:t>Invertí la imagen</a:t>
            </a:r>
            <a:r>
              <a:rPr lang="es" sz="2040"/>
              <a:t>, para poder observar los edificios y el cielo, dado que la imagen original obtenida es invertida.</a:t>
            </a:r>
            <a:endParaRPr sz="2040"/>
          </a:p>
        </p:txBody>
      </p:sp>
      <p:pic>
        <p:nvPicPr>
          <p:cNvPr id="324" name="Google Shape;324;p19" title="edif_inv.jpg"/>
          <p:cNvPicPr preferRelativeResize="0"/>
          <p:nvPr/>
        </p:nvPicPr>
        <p:blipFill rotWithShape="1">
          <a:blip r:embed="rId7">
            <a:alphaModFix/>
          </a:blip>
          <a:srcRect b="4638" l="48370" r="7928" t="61233"/>
          <a:stretch/>
        </p:blipFill>
        <p:spPr>
          <a:xfrm>
            <a:off x="3870950" y="3350175"/>
            <a:ext cx="1685925" cy="16097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0"/>
          <p:cNvSpPr txBox="1"/>
          <p:nvPr>
            <p:ph type="ctrTitle"/>
          </p:nvPr>
        </p:nvSpPr>
        <p:spPr>
          <a:xfrm>
            <a:off x="374825" y="98850"/>
            <a:ext cx="8520600" cy="68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Conclusi</a:t>
            </a:r>
            <a:r>
              <a:rPr lang="es"/>
              <a:t>ón</a:t>
            </a:r>
            <a:endParaRPr/>
          </a:p>
        </p:txBody>
      </p:sp>
      <p:sp>
        <p:nvSpPr>
          <p:cNvPr id="330" name="Google Shape;330;p20"/>
          <p:cNvSpPr txBox="1"/>
          <p:nvPr>
            <p:ph idx="1" type="subTitle"/>
          </p:nvPr>
        </p:nvSpPr>
        <p:spPr>
          <a:xfrm>
            <a:off x="427425" y="664475"/>
            <a:ext cx="8520600" cy="4294200"/>
          </a:xfrm>
          <a:prstGeom prst="rect">
            <a:avLst/>
          </a:prstGeom>
        </p:spPr>
        <p:txBody>
          <a:bodyPr anchorCtr="0" anchor="t" bIns="91425" lIns="91425" spcFirstLastPara="1" rIns="91425" wrap="square" tIns="91425">
            <a:normAutofit fontScale="62500" lnSpcReduction="20000"/>
          </a:bodyPr>
          <a:lstStyle/>
          <a:p>
            <a:pPr indent="0" lvl="0" marL="0" rtl="0" algn="just">
              <a:spcBef>
                <a:spcPts val="0"/>
              </a:spcBef>
              <a:spcAft>
                <a:spcPts val="0"/>
              </a:spcAft>
              <a:buNone/>
            </a:pPr>
            <a:r>
              <a:rPr lang="es" sz="4131"/>
              <a:t>A medida que fui sacando </a:t>
            </a:r>
            <a:r>
              <a:rPr lang="es" sz="4131"/>
              <a:t>fotografías</a:t>
            </a:r>
            <a:r>
              <a:rPr lang="es" sz="4131"/>
              <a:t> de las </a:t>
            </a:r>
            <a:r>
              <a:rPr lang="es" sz="4131"/>
              <a:t>imágenes</a:t>
            </a:r>
            <a:r>
              <a:rPr lang="es" sz="4131"/>
              <a:t> que captura la </a:t>
            </a:r>
            <a:r>
              <a:rPr lang="es" sz="4131"/>
              <a:t>cámara</a:t>
            </a:r>
            <a:r>
              <a:rPr lang="es" sz="4131"/>
              <a:t> oscura estenopeica, pude observar cuando la caja interior lo acercaba a mi cara hacia como zoom la imagen y </a:t>
            </a:r>
            <a:r>
              <a:rPr lang="es" sz="4131"/>
              <a:t>también</a:t>
            </a:r>
            <a:r>
              <a:rPr lang="es" sz="4131"/>
              <a:t> la imagen obtenidas se ven un poco nublado o opacidad. </a:t>
            </a:r>
            <a:endParaRPr sz="4131"/>
          </a:p>
          <a:p>
            <a:pPr indent="0" lvl="0" marL="0" rtl="0" algn="just">
              <a:spcBef>
                <a:spcPts val="0"/>
              </a:spcBef>
              <a:spcAft>
                <a:spcPts val="0"/>
              </a:spcAft>
              <a:buNone/>
            </a:pPr>
            <a:r>
              <a:rPr lang="es" sz="4131"/>
              <a:t>Influye mucho el horario en mi caso las tomas las realice a la tarde en el ocaso, y en el exterior tuve que tapar mi cabeza para que no ingrese luz por la parte posterior, creo que si lo usaba a la mañana o </a:t>
            </a:r>
            <a:r>
              <a:rPr lang="es" sz="4131"/>
              <a:t>mediodía</a:t>
            </a:r>
            <a:r>
              <a:rPr lang="es" sz="4131"/>
              <a:t> las imagenes serian de mejor calidad. Cuando quise usarlo en el interior de mi vivienda no se </a:t>
            </a:r>
            <a:r>
              <a:rPr lang="es" sz="4131"/>
              <a:t>podía</a:t>
            </a:r>
            <a:r>
              <a:rPr lang="es" sz="4131"/>
              <a:t> distinguir objetos, con claridad.</a:t>
            </a:r>
            <a:endParaRPr sz="4131"/>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